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212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59436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SEMINAR ON EMERGING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4000" b="1">
                <a:solidFill>
                  <a:srgbClr val="F8F8F8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28216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4000" b="1">
                <a:solidFill>
                  <a:srgbClr val="E8142B"/>
                </a:solidFill>
                <a:latin typeface="Arial"/>
              </a:defRPr>
            </a:pPr>
            <a:r>
              <a:t>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40864"/>
            <a:ext cx="7040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700" b="1">
                <a:solidFill>
                  <a:srgbClr val="F8F8F8"/>
                </a:solidFill>
                <a:latin typeface="Arial"/>
              </a:defRPr>
            </a:pPr>
            <a:r>
              <a:t>AND FOG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1927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250" b="1">
                <a:solidFill>
                  <a:srgbClr val="D6D6DB"/>
                </a:solidFill>
                <a:latin typeface="Arial"/>
              </a:defRPr>
            </a:pPr>
            <a:r>
              <a:t>PROCESS DATA CLOSER TO WHERE IT IS GENERATED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3813048"/>
            <a:ext cx="1078992" cy="0"/>
          </a:xfrm>
          <a:prstGeom prst="line">
            <a:avLst/>
          </a:prstGeom>
          <a:ln w="317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8" y="41148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450" b="0">
                <a:solidFill>
                  <a:srgbClr val="D6D6DB"/>
                </a:solidFill>
                <a:latin typeface="Arial"/>
              </a:defRPr>
            </a:pPr>
            <a:r>
              <a:t>A distributed computing approach that reduces dependence</a:t>
            </a:r>
            <a:br/>
            <a:r>
              <a:t>on distant cloud data centers by processing data closer to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074920"/>
            <a:ext cx="1325880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166359"/>
            <a:ext cx="13258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LOW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5074920"/>
            <a:ext cx="1371600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166359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DISTRIBUTED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448" y="5074920"/>
            <a:ext cx="1207008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5166359"/>
            <a:ext cx="12070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1">
                <a:solidFill>
                  <a:srgbClr val="F8F8F8"/>
                </a:solidFill>
                <a:latin typeface="Arial"/>
              </a:defRPr>
            </a:pPr>
            <a:r>
              <a:t>V. Devachary  |  Reg. No: 192465041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74980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E8142B"/>
                </a:solidFill>
                <a:latin typeface="Arial"/>
              </a:defRPr>
            </a:pPr>
            <a:r>
              <a:t>COMPUTING HIERARCHY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1417320"/>
            <a:ext cx="749808" cy="4754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1581912"/>
            <a:ext cx="7498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740" b="1">
                <a:solidFill>
                  <a:srgbClr val="F8F8F8"/>
                </a:solidFill>
                <a:latin typeface="Arial"/>
              </a:defRPr>
            </a:pPr>
            <a:r>
              <a:t>IoT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54312" y="1417320"/>
            <a:ext cx="749808" cy="4754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1581912"/>
            <a:ext cx="7498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740" b="1">
                <a:solidFill>
                  <a:srgbClr val="F8F8F8"/>
                </a:solidFill>
                <a:latin typeface="Arial"/>
              </a:defRPr>
            </a:pPr>
            <a:r>
              <a:t>CAMERA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14432" y="1417320"/>
            <a:ext cx="749808" cy="4754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1581912"/>
            <a:ext cx="74980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740" b="1">
                <a:solidFill>
                  <a:srgbClr val="F8F8F8"/>
                </a:solidFill>
                <a:latin typeface="Arial"/>
              </a:defRPr>
            </a:pPr>
            <a:r>
              <a:t>SENSOR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359152"/>
            <a:ext cx="1508760" cy="594360"/>
          </a:xfrm>
          <a:prstGeom prst="round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87968" y="2551176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F8F8F8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3456432"/>
            <a:ext cx="2194560" cy="64008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675887"/>
            <a:ext cx="2194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FOG LAYER</a:t>
            </a:r>
          </a:p>
        </p:txBody>
      </p:sp>
      <p:sp>
        <p:nvSpPr>
          <p:cNvPr id="29" name="Oval 28"/>
          <p:cNvSpPr/>
          <p:nvPr/>
        </p:nvSpPr>
        <p:spPr>
          <a:xfrm>
            <a:off x="8951061" y="4944160"/>
            <a:ext cx="528066" cy="528066"/>
          </a:xfrm>
          <a:prstGeom prst="ellipse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58300" y="4732934"/>
            <a:ext cx="720090" cy="720090"/>
          </a:xfrm>
          <a:prstGeom prst="ellipse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99955" y="4982565"/>
            <a:ext cx="499262" cy="499262"/>
          </a:xfrm>
          <a:prstGeom prst="ellipse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47073" y="5145786"/>
            <a:ext cx="1132941" cy="40325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91091" y="5270601"/>
            <a:ext cx="844905" cy="134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750" b="1">
                <a:solidFill>
                  <a:srgbClr val="E8142B"/>
                </a:solidFill>
                <a:latin typeface="Arial"/>
              </a:defRPr>
            </a:pPr>
            <a:r>
              <a:t>CLOUD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32520" y="1901952"/>
            <a:ext cx="914400" cy="457200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646920" y="1901952"/>
            <a:ext cx="45720" cy="457200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9646920" y="1901952"/>
            <a:ext cx="1005840" cy="457200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646920" y="2953512"/>
            <a:ext cx="0" cy="493776"/>
          </a:xfrm>
          <a:prstGeom prst="line">
            <a:avLst/>
          </a:prstGeom>
          <a:ln w="190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46920" y="4096512"/>
            <a:ext cx="0" cy="521208"/>
          </a:xfrm>
          <a:prstGeom prst="line">
            <a:avLst/>
          </a:prstGeom>
          <a:ln w="190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2900" b="1">
                <a:solidFill>
                  <a:srgbClr val="F8F8F8"/>
                </a:solidFill>
                <a:latin typeface="Arial"/>
              </a:defRPr>
            </a:pPr>
            <a:r>
              <a:t>Seminar Presentation Structure: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280160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126187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1">
                <a:solidFill>
                  <a:srgbClr val="F8F8F8"/>
                </a:solidFill>
                <a:latin typeface="Arial"/>
              </a:defRPr>
            </a:pPr>
            <a:r>
              <a:t>Introduction to the Emerging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46504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Need and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231136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1">
                <a:solidFill>
                  <a:srgbClr val="F8F8F8"/>
                </a:solidFill>
                <a:latin typeface="Arial"/>
              </a:defRPr>
            </a:pPr>
            <a:r>
              <a:t>Working Principle /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34056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7157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Key Components and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18688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200400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Applications / Real-World 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703320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68503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Advantages and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187952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7.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169664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Recent Developments and Trends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72583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8.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654296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Challenges and 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157216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13892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1">
                <a:solidFill>
                  <a:srgbClr val="F8F8F8"/>
                </a:solidFill>
                <a:latin typeface="Arial"/>
              </a:defRPr>
            </a:pPr>
            <a:r>
              <a:t>Case Study /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641848"/>
            <a:ext cx="411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600" b="0">
                <a:solidFill>
                  <a:srgbClr val="919198"/>
                </a:solidFill>
                <a:latin typeface="Arial"/>
              </a:defRPr>
            </a:pPr>
            <a:r>
              <a:t>10.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623560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720" b="0">
                <a:solidFill>
                  <a:srgbClr val="F8F8F8"/>
                </a:solidFill>
                <a:latin typeface="Arial"/>
              </a:defRPr>
            </a:pPr>
            <a:r>
              <a:t>Conclusion and References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01 • INTRODUCTION TO THE EMERGING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WHAT IS EDGE &amp; FOG COMPUTING?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417320"/>
            <a:ext cx="65379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420" b="0">
                <a:solidFill>
                  <a:srgbClr val="D6D6DB"/>
                </a:solidFill>
                <a:latin typeface="Arial"/>
              </a:defRPr>
            </a:pPr>
            <a:r>
              <a:t>Edge computing processes data near the device or source. Fog computing extends distributed processing across intermediate nodes between edge devices and the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60320"/>
            <a:ext cx="2971800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560320"/>
            <a:ext cx="50292" cy="1481328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70662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EDGE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81527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30" b="0">
                <a:solidFill>
                  <a:srgbClr val="D6D6DB"/>
                </a:solidFill>
                <a:latin typeface="Arial"/>
              </a:defRPr>
            </a:pPr>
            <a:r>
              <a:t>Moves computation close to the data source to reduce delay and unnecessary data transfer.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560320"/>
            <a:ext cx="2971800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0" y="2560320"/>
            <a:ext cx="50292" cy="1481328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706624"/>
            <a:ext cx="26517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FOG COMPUTING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081527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30" b="0">
                <a:solidFill>
                  <a:srgbClr val="D6D6DB"/>
                </a:solidFill>
                <a:latin typeface="Arial"/>
              </a:defRPr>
            </a:pPr>
            <a:r>
              <a:t>Adds a distributed layer of compute, storage and networking between edge devices and the cloud.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5254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1">
                <a:solidFill>
                  <a:srgbClr val="E8142B"/>
                </a:solidFill>
                <a:latin typeface="Arial"/>
              </a:defRPr>
            </a:pPr>
            <a:r>
              <a:t>KEY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645152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1">
                <a:solidFill>
                  <a:srgbClr val="F8F8F8"/>
                </a:solidFill>
                <a:latin typeface="Arial"/>
              </a:defRPr>
            </a:pPr>
            <a:r>
              <a:t>Process locally when possible → send selected data to higher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417320"/>
            <a:ext cx="3429000" cy="4526280"/>
          </a:xfrm>
          <a:prstGeom prst="roundRect">
            <a:avLst/>
          </a:prstGeom>
          <a:solidFill>
            <a:srgbClr val="12121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74152" y="1682496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DATA PROCESSING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148840"/>
            <a:ext cx="2615184" cy="5486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240280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80" b="1">
                <a:solidFill>
                  <a:srgbClr val="E8142B"/>
                </a:solidFill>
                <a:latin typeface="Arial"/>
              </a:defRPr>
            </a:pPr>
            <a:r>
              <a:t>DEVICES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240280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0" b="0">
                <a:solidFill>
                  <a:srgbClr val="D6D6DB"/>
                </a:solidFill>
                <a:latin typeface="Arial"/>
              </a:defRPr>
            </a:pPr>
            <a:r>
              <a:t>Sensors • cameras • machines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37192" y="2697480"/>
            <a:ext cx="0" cy="201168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9600" y="2898648"/>
            <a:ext cx="2615184" cy="5486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990088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80" b="1">
                <a:solidFill>
                  <a:srgbClr val="E8142B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99008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0" b="0">
                <a:solidFill>
                  <a:srgbClr val="D6D6DB"/>
                </a:solidFill>
                <a:latin typeface="Arial"/>
              </a:defRPr>
            </a:pPr>
            <a:r>
              <a:t>Local processing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37192" y="3447288"/>
            <a:ext cx="0" cy="201168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229600" y="3648456"/>
            <a:ext cx="2615184" cy="5486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739896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80" b="1">
                <a:solidFill>
                  <a:srgbClr val="E8142B"/>
                </a:solidFill>
                <a:latin typeface="Arial"/>
              </a:defRPr>
            </a:pPr>
            <a:r>
              <a:t>FOG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73989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0" b="0">
                <a:solidFill>
                  <a:srgbClr val="D6D6DB"/>
                </a:solidFill>
                <a:latin typeface="Arial"/>
              </a:defRPr>
            </a:pPr>
            <a:r>
              <a:t>Intermediate nodes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37192" y="4197096"/>
            <a:ext cx="0" cy="201168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29600" y="4398264"/>
            <a:ext cx="2615184" cy="5486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4489704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80" b="1">
                <a:solidFill>
                  <a:srgbClr val="AC0F1F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489704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0" b="0">
                <a:solidFill>
                  <a:srgbClr val="D6D6DB"/>
                </a:solidFill>
                <a:latin typeface="Arial"/>
              </a:defRPr>
            </a:pPr>
            <a:r>
              <a:t>Central services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02 • NEED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WHY IS IT NEEDED?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41732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420" b="0">
                <a:solidFill>
                  <a:srgbClr val="D6D6DB"/>
                </a:solidFill>
                <a:latin typeface="Arial"/>
              </a:defRPr>
            </a:pPr>
            <a:r>
              <a:t>Cloud-only processing can become inefficient when applications generate large volumes of time-sensitive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310128" cy="107899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84831"/>
            <a:ext cx="50292" cy="1078992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31136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LOW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06039"/>
            <a:ext cx="29900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D6D6DB"/>
                </a:solidFill>
                <a:latin typeface="Arial"/>
              </a:defRPr>
            </a:pPr>
            <a:r>
              <a:t>Fast response for time-sensitive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084831"/>
            <a:ext cx="3310128" cy="107899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084831"/>
            <a:ext cx="50292" cy="1078992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231136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BANDWIDTH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06039"/>
            <a:ext cx="29900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D6D6DB"/>
                </a:solidFill>
                <a:latin typeface="Arial"/>
              </a:defRPr>
            </a:pPr>
            <a:r>
              <a:t>Reduce unnecessary transfer to the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084831"/>
            <a:ext cx="3310128" cy="107899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2084831"/>
            <a:ext cx="50292" cy="1078992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231136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LOCAL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06039"/>
            <a:ext cx="29900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D6D6DB"/>
                </a:solidFill>
                <a:latin typeface="Arial"/>
              </a:defRPr>
            </a:pPr>
            <a:r>
              <a:t>Act near the source when connectivity is limited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38144"/>
            <a:ext cx="3310128" cy="107899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38144"/>
            <a:ext cx="50292" cy="1078992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584448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959352"/>
            <a:ext cx="29900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D6D6DB"/>
                </a:solidFill>
                <a:latin typeface="Arial"/>
              </a:defRPr>
            </a:pPr>
            <a:r>
              <a:t>Distribute workloads across multiple locations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438144"/>
            <a:ext cx="3310128" cy="107899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3438144"/>
            <a:ext cx="50292" cy="1078992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3584448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PRIVACY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3959352"/>
            <a:ext cx="29900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D6D6DB"/>
                </a:solidFill>
                <a:latin typeface="Arial"/>
              </a:defRPr>
            </a:pPr>
            <a:r>
              <a:t>Keep selected data closer to its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5008" y="3438144"/>
            <a:ext cx="3310128" cy="107899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3438144"/>
            <a:ext cx="50292" cy="1078992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584448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59352"/>
            <a:ext cx="29900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0">
                <a:solidFill>
                  <a:srgbClr val="D6D6DB"/>
                </a:solidFill>
                <a:latin typeface="Arial"/>
              </a:defRPr>
            </a:pPr>
            <a:r>
              <a:t>Continue local processing during network disruption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065776"/>
            <a:ext cx="10515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919198"/>
                </a:solidFill>
                <a:latin typeface="Arial"/>
              </a:defRPr>
            </a:pPr>
            <a:r>
              <a:t>CLOUD-ONLY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038344"/>
            <a:ext cx="3337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0">
                <a:solidFill>
                  <a:srgbClr val="D6D6DB"/>
                </a:solidFill>
                <a:latin typeface="Arial"/>
              </a:defRPr>
            </a:pPr>
            <a:r>
              <a:t>device → network → cloud →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065776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EDGE / FOG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5038344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F8F8F8"/>
                </a:solidFill>
                <a:latin typeface="Arial"/>
              </a:defRPr>
            </a:pPr>
            <a:r>
              <a:t>device → local processing → response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03 • WORKING PRINCIPLE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HOW THE COMPUTING LAYERS WORK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71600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350" b="0">
                <a:solidFill>
                  <a:srgbClr val="D6D6DB"/>
                </a:solidFill>
                <a:latin typeface="Arial"/>
              </a:defRPr>
            </a:pPr>
            <a:r>
              <a:t>Data is generated at devices, processed at nearby edge/fog nodes when appropriate, and forwarded to the cloud for centralized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874519" cy="132588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6916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E8142B"/>
                </a:solidFill>
                <a:latin typeface="Arial"/>
              </a:defRPr>
            </a:pPr>
            <a:r>
              <a:t>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44368"/>
            <a:ext cx="1691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0">
                <a:solidFill>
                  <a:srgbClr val="D6D6DB"/>
                </a:solidFill>
                <a:latin typeface="Arial"/>
              </a:defRPr>
            </a:pPr>
            <a:r>
              <a:t>Sensors • cameras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2999232"/>
            <a:ext cx="475488" cy="0"/>
          </a:xfrm>
          <a:prstGeom prst="line">
            <a:avLst/>
          </a:prstGeom>
          <a:ln w="2159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331720"/>
            <a:ext cx="1874519" cy="132588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560320"/>
            <a:ext cx="16916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AC0F1F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44368"/>
            <a:ext cx="1691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0">
                <a:solidFill>
                  <a:srgbClr val="D6D6DB"/>
                </a:solidFill>
                <a:latin typeface="Arial"/>
              </a:defRPr>
            </a:pPr>
            <a:r>
              <a:t>Local compute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46320" y="2999232"/>
            <a:ext cx="612648" cy="0"/>
          </a:xfrm>
          <a:prstGeom prst="line">
            <a:avLst/>
          </a:prstGeom>
          <a:ln w="2159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532120" y="2331720"/>
            <a:ext cx="1874519" cy="132588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59" y="2560320"/>
            <a:ext cx="16916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E8142B"/>
                </a:solidFill>
                <a:latin typeface="Arial"/>
              </a:defRPr>
            </a:pPr>
            <a:r>
              <a:t>FOG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2944368"/>
            <a:ext cx="1691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0">
                <a:solidFill>
                  <a:srgbClr val="D6D6DB"/>
                </a:solidFill>
                <a:latin typeface="Arial"/>
              </a:defRPr>
            </a:pPr>
            <a:r>
              <a:t>Regional nodes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2999232"/>
            <a:ext cx="612648" cy="0"/>
          </a:xfrm>
          <a:prstGeom prst="line">
            <a:avLst/>
          </a:prstGeom>
          <a:ln w="2159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92440" y="2331720"/>
            <a:ext cx="1554480" cy="132588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56032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AC0F1F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9443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0">
                <a:solidFill>
                  <a:srgbClr val="D6D6DB"/>
                </a:solidFill>
                <a:latin typeface="Arial"/>
              </a:defRPr>
            </a:pPr>
            <a:r>
              <a:t>Central services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19" y="2999232"/>
            <a:ext cx="384049" cy="0"/>
          </a:xfrm>
          <a:prstGeom prst="line">
            <a:avLst/>
          </a:prstGeom>
          <a:ln w="2159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104120" y="2331720"/>
            <a:ext cx="1508760" cy="132588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95560" y="2560320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E8142B"/>
                </a:solidFill>
                <a:latin typeface="Arial"/>
              </a:defRPr>
            </a:pPr>
            <a:r>
              <a:t>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944368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50" b="0">
                <a:solidFill>
                  <a:srgbClr val="D6D6DB"/>
                </a:solidFill>
                <a:latin typeface="Arial"/>
              </a:defRPr>
            </a:pPr>
            <a:r>
              <a:t>Dashboards •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60520"/>
            <a:ext cx="960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DATA PATH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005072"/>
            <a:ext cx="1993392" cy="100584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4224528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CAPTURE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553712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0">
                <a:solidFill>
                  <a:srgbClr val="D6D6DB"/>
                </a:solidFill>
                <a:latin typeface="Arial"/>
              </a:defRPr>
            </a:pPr>
            <a:r>
              <a:t>Generate 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13632" y="4507992"/>
            <a:ext cx="228600" cy="0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251960" y="4005072"/>
            <a:ext cx="1993392" cy="100584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224528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AC0F1F"/>
                </a:solidFill>
                <a:latin typeface="Arial"/>
              </a:defRPr>
            </a:pPr>
            <a:r>
              <a:t>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53712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0">
                <a:solidFill>
                  <a:srgbClr val="D6D6DB"/>
                </a:solidFill>
                <a:latin typeface="Arial"/>
              </a:defRPr>
            </a:pPr>
            <a:r>
              <a:t>Process nearby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45352" y="4507992"/>
            <a:ext cx="228600" cy="0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79" y="4005072"/>
            <a:ext cx="1993392" cy="100584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19" y="4224528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AGGREGATE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19" y="4553712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0">
                <a:solidFill>
                  <a:srgbClr val="D6D6DB"/>
                </a:solidFill>
                <a:latin typeface="Arial"/>
              </a:defRPr>
            </a:pPr>
            <a:r>
              <a:t>Combine locally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77072" y="4507992"/>
            <a:ext cx="228600" cy="0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15400" y="4005072"/>
            <a:ext cx="1993392" cy="100584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4224528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1">
                <a:solidFill>
                  <a:srgbClr val="AC0F1F"/>
                </a:solidFill>
                <a:latin typeface="Arial"/>
              </a:defRPr>
            </a:pPr>
            <a:r>
              <a:t>CENTRALIZE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553712"/>
            <a:ext cx="18105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0">
                <a:solidFill>
                  <a:srgbClr val="D6D6DB"/>
                </a:solidFill>
                <a:latin typeface="Arial"/>
              </a:defRPr>
            </a:pPr>
            <a:r>
              <a:t>Store / analyze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04 • KEY COMPONENTS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THE BUILDING BLOCKS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57276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72768"/>
            <a:ext cx="50292" cy="1389888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EDGE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9397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Sensors, cameras, machines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7276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72768"/>
            <a:ext cx="50292" cy="1389888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71907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EDGE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9397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Gateways and local servers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7276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72768"/>
            <a:ext cx="50292" cy="1389888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1907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FOG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9397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Intermediate compute and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7276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572768"/>
            <a:ext cx="50292" cy="1389888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71907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09397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LAN, Wi-Fi, 5G and 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1012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10128"/>
            <a:ext cx="50292" cy="1389888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5643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3133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Central storage and analytics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31012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310128"/>
            <a:ext cx="50292" cy="1389888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45643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83133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Workload and resource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31012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310128"/>
            <a:ext cx="50292" cy="1389888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5643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3133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Identity, access and protection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310128"/>
            <a:ext cx="257860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310128"/>
            <a:ext cx="50292" cy="1389888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3456432"/>
            <a:ext cx="2258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831336"/>
            <a:ext cx="225856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Monitoring, analytics and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30368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RELATIONSHIP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65960" y="5102352"/>
            <a:ext cx="117043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5193792"/>
            <a:ext cx="11704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DEVICE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136391" y="5276088"/>
            <a:ext cx="246889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538728" y="5102352"/>
            <a:ext cx="117043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38728" y="5193792"/>
            <a:ext cx="11704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EDGE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09160" y="5276088"/>
            <a:ext cx="246888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111496" y="5102352"/>
            <a:ext cx="117043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11496" y="5193792"/>
            <a:ext cx="11704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FOG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281928" y="5276088"/>
            <a:ext cx="246888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684264" y="5102352"/>
            <a:ext cx="117043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84264" y="5193792"/>
            <a:ext cx="11704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NETWORK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854696" y="5276088"/>
            <a:ext cx="246888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257031" y="5102352"/>
            <a:ext cx="117043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5193792"/>
            <a:ext cx="11704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CLOUD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427463" y="5276088"/>
            <a:ext cx="246889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829800" y="5102352"/>
            <a:ext cx="117043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5193792"/>
            <a:ext cx="11704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APP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05 • APPLICATIONS / REAL-WORLD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WHERE IT IS USED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554480"/>
            <a:ext cx="3364992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737360"/>
            <a:ext cx="365760" cy="36576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4708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755648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69" b="1">
                <a:solidFill>
                  <a:srgbClr val="E8142B"/>
                </a:solidFill>
                <a:latin typeface="Arial"/>
              </a:defRPr>
            </a:pPr>
            <a:r>
              <a:t>SMART CITIES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28529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Traffic monitoring, public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364992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1737360"/>
            <a:ext cx="365760" cy="36576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755648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69" b="1">
                <a:solidFill>
                  <a:srgbClr val="AC0F1F"/>
                </a:solidFill>
                <a:latin typeface="Arial"/>
              </a:defRPr>
            </a:pPr>
            <a:r>
              <a:t>INDUSTRIAL IoT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28529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Machine monitoring and predictive maintenance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364992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599" y="1737360"/>
            <a:ext cx="365760" cy="36576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9" y="184708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1" y="1755648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69" b="1">
                <a:solidFill>
                  <a:srgbClr val="E8142B"/>
                </a:solidFill>
                <a:latin typeface="Arial"/>
              </a:defRPr>
            </a:pPr>
            <a:r>
              <a:t>HEALTHCARE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2286000"/>
            <a:ext cx="28529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Connected devices and local monitoring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29000"/>
            <a:ext cx="3364992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59" y="3611880"/>
            <a:ext cx="365760" cy="36576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72160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3630168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69" b="1">
                <a:solidFill>
                  <a:srgbClr val="AC0F1F"/>
                </a:solidFill>
                <a:latin typeface="Arial"/>
              </a:defRPr>
            </a:pPr>
            <a:r>
              <a:t>AUTONOMOUS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4160520"/>
            <a:ext cx="28529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Robots, vehicles and real-time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429000"/>
            <a:ext cx="3364992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6280" y="3611880"/>
            <a:ext cx="365760" cy="36576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72160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6632" y="3630168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69" b="1">
                <a:solidFill>
                  <a:srgbClr val="E8142B"/>
                </a:solidFill>
                <a:latin typeface="Arial"/>
              </a:defRPr>
            </a:pPr>
            <a:r>
              <a:t>SMART RETAIL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160520"/>
            <a:ext cx="28529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Cameras, inventory and store analytics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429000"/>
            <a:ext cx="3364992" cy="148132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599" y="3611880"/>
            <a:ext cx="365760" cy="36576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372160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1" y="3630168"/>
            <a:ext cx="23591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69" b="1">
                <a:solidFill>
                  <a:srgbClr val="AC0F1F"/>
                </a:solidFill>
                <a:latin typeface="Arial"/>
              </a:defRPr>
            </a:pPr>
            <a:r>
              <a:t>ENERGY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4160520"/>
            <a:ext cx="285292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60" b="0">
                <a:solidFill>
                  <a:srgbClr val="D6D6DB"/>
                </a:solidFill>
                <a:latin typeface="Arial"/>
              </a:defRPr>
            </a:pPr>
            <a:r>
              <a:t>Grid monitoring and local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COMMON PATTERN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5212080"/>
            <a:ext cx="135331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5303520"/>
            <a:ext cx="13533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SENSE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02152" y="5385816"/>
            <a:ext cx="411480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14800" y="5212080"/>
            <a:ext cx="135331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5303520"/>
            <a:ext cx="13533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PROCESS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68112" y="5385816"/>
            <a:ext cx="411480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5212080"/>
            <a:ext cx="135331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5303520"/>
            <a:ext cx="13533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DECIDE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34072" y="5385816"/>
            <a:ext cx="411480" cy="0"/>
          </a:xfrm>
          <a:prstGeom prst="line">
            <a:avLst/>
          </a:prstGeom>
          <a:ln w="1397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046719" y="5212080"/>
            <a:ext cx="1353312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303520"/>
            <a:ext cx="135331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ACT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06 • 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A BALANCED 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417320"/>
            <a:ext cx="102412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350" b="0">
                <a:solidFill>
                  <a:srgbClr val="D6D6DB"/>
                </a:solidFill>
                <a:latin typeface="Arial"/>
              </a:defRPr>
            </a:pPr>
            <a:r>
              <a:t>Edge and fog computing can improve responsiveness and efficiency, but they also introduce distributed-system complexity.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358444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230368" cy="512064"/>
          </a:xfrm>
          <a:prstGeom prst="round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39696"/>
            <a:ext cx="4663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F8F8F8"/>
                </a:solidFill>
                <a:latin typeface="Arial"/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7004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670048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LOWER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609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Faster local response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127248"/>
            <a:ext cx="4645152" cy="0"/>
          </a:xfrm>
          <a:prstGeom prst="line">
            <a:avLst/>
          </a:prstGeom>
          <a:ln w="889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6112" y="331012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10128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LESS BANDWIDTH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0098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Filter data before cloud transfer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767328"/>
            <a:ext cx="4645152" cy="0"/>
          </a:xfrm>
          <a:prstGeom prst="line">
            <a:avLst/>
          </a:prstGeom>
          <a:ln w="889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6112" y="395020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50208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LOCAL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4106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Useful when connectivity is unstable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407408"/>
            <a:ext cx="4645152" cy="0"/>
          </a:xfrm>
          <a:prstGeom prst="line">
            <a:avLst/>
          </a:prstGeom>
          <a:ln w="889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6112" y="459028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90288"/>
            <a:ext cx="16916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SCALABLE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58114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Distribute workloads across nodes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965960"/>
            <a:ext cx="5230368" cy="358444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1965960"/>
            <a:ext cx="5230368" cy="512064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139696"/>
            <a:ext cx="4663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100" b="1">
                <a:solidFill>
                  <a:srgbClr val="E8142B"/>
                </a:solidFill>
                <a:latin typeface="Arial"/>
              </a:defRPr>
            </a:pPr>
            <a:r>
              <a:t>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67004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7004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DISTRIBUTED COMPLEXITY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66090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More nodes to manage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65392" y="3127248"/>
            <a:ext cx="4636008" cy="0"/>
          </a:xfrm>
          <a:prstGeom prst="line">
            <a:avLst/>
          </a:prstGeom>
          <a:ln w="889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47104" y="331012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31012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SECURITY 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330098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More endpoints and locations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65392" y="3767328"/>
            <a:ext cx="4636008" cy="0"/>
          </a:xfrm>
          <a:prstGeom prst="line">
            <a:avLst/>
          </a:prstGeom>
          <a:ln w="889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47104" y="395020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95020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MAINTENANCE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94106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Updates across distributed systems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65392" y="4407408"/>
            <a:ext cx="4636008" cy="0"/>
          </a:xfrm>
          <a:prstGeom prst="line">
            <a:avLst/>
          </a:prstGeom>
          <a:ln w="889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47104" y="4590288"/>
            <a:ext cx="3108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590288"/>
            <a:ext cx="1600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40" b="1">
                <a:solidFill>
                  <a:srgbClr val="E8142B"/>
                </a:solidFill>
                <a:latin typeface="Arial"/>
              </a:defRPr>
            </a:pPr>
            <a:r>
              <a:t>COST / RESOURCES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58114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19" b="0">
                <a:solidFill>
                  <a:srgbClr val="D6D6DB"/>
                </a:solidFill>
                <a:latin typeface="Arial"/>
              </a:defRPr>
            </a:pPr>
            <a:r>
              <a:t>Local hardware and management effort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63040" y="5715000"/>
            <a:ext cx="9235440" cy="393192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64208" y="5815584"/>
            <a:ext cx="71323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9" b="1">
                <a:solidFill>
                  <a:srgbClr val="E8142B"/>
                </a:solidFill>
                <a:latin typeface="Arial"/>
              </a:defRPr>
            </a:pPr>
            <a:r>
              <a:t>BEST 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5806440"/>
            <a:ext cx="77266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F8F8F8"/>
                </a:solidFill>
                <a:latin typeface="Arial"/>
              </a:defRPr>
            </a:pPr>
            <a:r>
              <a:t>Time-sensitive applications that benefit from processing close to the source.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07 • RECENT DEVELOPMENTS AND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WHAT IS CHANGING?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417320"/>
            <a:ext cx="10058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350" b="0">
                <a:solidFill>
                  <a:srgbClr val="D6D6DB"/>
                </a:solidFill>
                <a:latin typeface="Arial"/>
              </a:defRPr>
            </a:pPr>
            <a:r>
              <a:t>Edge/fog environments are increasingly connected with modern networks, AI workloads and centralized cloud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395728" cy="21488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2395728" cy="91440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9572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98064"/>
            <a:ext cx="1993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5G +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19933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Faster connectivity supports more near-real-time workloads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90088" y="3154680"/>
            <a:ext cx="365760" cy="0"/>
          </a:xfrm>
          <a:prstGeom prst="line">
            <a:avLst/>
          </a:prstGeom>
          <a:ln w="190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2103120"/>
            <a:ext cx="2395728" cy="21488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2103120"/>
            <a:ext cx="2395728" cy="91440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9572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798064"/>
            <a:ext cx="1993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291840"/>
            <a:ext cx="19933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Models can run closer to sensors and devices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52160" y="3154680"/>
            <a:ext cx="365760" cy="0"/>
          </a:xfrm>
          <a:prstGeom prst="line">
            <a:avLst/>
          </a:prstGeom>
          <a:ln w="190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18504" y="2103120"/>
            <a:ext cx="2395728" cy="21488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8504" y="2103120"/>
            <a:ext cx="2395728" cy="91440"/>
          </a:xfrm>
          <a:prstGeom prst="rect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239572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2798064"/>
            <a:ext cx="1993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AC0F1F"/>
                </a:solidFill>
                <a:latin typeface="Arial"/>
              </a:defRPr>
            </a:pPr>
            <a:r>
              <a:t>CLOUD–EDGE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291840"/>
            <a:ext cx="19933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Workloads can be placed where they fit best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4232" y="3154680"/>
            <a:ext cx="365760" cy="0"/>
          </a:xfrm>
          <a:prstGeom prst="line">
            <a:avLst/>
          </a:prstGeom>
          <a:ln w="190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80576" y="2103120"/>
            <a:ext cx="2395728" cy="2148840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0576" y="2103120"/>
            <a:ext cx="2395728" cy="91440"/>
          </a:xfrm>
          <a:prstGeom prst="rect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2395728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2798064"/>
            <a:ext cx="1993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1">
                <a:solidFill>
                  <a:srgbClr val="E8142B"/>
                </a:solidFill>
                <a:latin typeface="Arial"/>
              </a:defRPr>
            </a:pPr>
            <a:r>
              <a:t>ORCHESTRATION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5" y="3291840"/>
            <a:ext cx="19933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Distributed resources need automated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54880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1">
                <a:solidFill>
                  <a:srgbClr val="E8142B"/>
                </a:solidFill>
                <a:latin typeface="Arial"/>
              </a:defRPr>
            </a:pPr>
            <a:r>
              <a:t>EVOLUTION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755648" y="4846320"/>
            <a:ext cx="9171432" cy="0"/>
          </a:xfrm>
          <a:prstGeom prst="line">
            <a:avLst/>
          </a:prstGeom>
          <a:ln w="254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20240" y="5047488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40" b="1">
                <a:solidFill>
                  <a:srgbClr val="F8F8F8"/>
                </a:solidFill>
                <a:latin typeface="Arial"/>
              </a:defRPr>
            </a:pPr>
            <a:r>
              <a:t>CONNECTED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5047488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40" b="1">
                <a:solidFill>
                  <a:srgbClr val="F8F8F8"/>
                </a:solidFill>
                <a:latin typeface="Arial"/>
              </a:defRPr>
            </a:pPr>
            <a:r>
              <a:t>INTELLIGENT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047488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40" b="1">
                <a:solidFill>
                  <a:srgbClr val="F8F8F8"/>
                </a:solidFill>
                <a:latin typeface="Arial"/>
              </a:defRPr>
            </a:pPr>
            <a:r>
              <a:t>HYBRID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047488"/>
            <a:ext cx="1508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40" b="1">
                <a:solidFill>
                  <a:srgbClr val="F8F8F8"/>
                </a:solidFill>
                <a:latin typeface="Arial"/>
              </a:defRPr>
            </a:pPr>
            <a:r>
              <a:t>ORCHESTRATED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04688"/>
            <a:ext cx="10835640" cy="402336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614416"/>
            <a:ext cx="5943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9" b="1">
                <a:solidFill>
                  <a:srgbClr val="E8142B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605272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F8F8F8"/>
                </a:solidFill>
                <a:latin typeface="Arial"/>
              </a:defRPr>
            </a:pPr>
            <a:r>
              <a:t>More real-time processing • smarter placement of workloads • stronger cloud–edge integration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08 • CHALLENGES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WHAT COMES NEXT?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41732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350" b="0">
                <a:solidFill>
                  <a:srgbClr val="D6D6DB"/>
                </a:solidFill>
                <a:latin typeface="Arial"/>
              </a:defRPr>
            </a:pPr>
            <a:r>
              <a:t>The main challenge is managing many distributed resources while keeping performance, security and reliability under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5230368" cy="340156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21992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AC0F1F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633472"/>
            <a:ext cx="274320" cy="27432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715768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670048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1">
                <a:solidFill>
                  <a:srgbClr val="AC0F1F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Protect many distributed endpoints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255264"/>
            <a:ext cx="274320" cy="27432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337560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91840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1">
                <a:solidFill>
                  <a:srgbClr val="AC0F1F"/>
                </a:solidFill>
                <a:latin typeface="Arial"/>
              </a:defRPr>
            </a:pPr>
            <a:r>
              <a:t>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73552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Coordinate edge and fog nodes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3877056"/>
            <a:ext cx="274320" cy="27432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59352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3632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1">
                <a:solidFill>
                  <a:srgbClr val="AC0F1F"/>
                </a:solidFill>
                <a:latin typeface="Arial"/>
              </a:defRPr>
            </a:pPr>
            <a: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95344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Handle failures and connectivity changes</a:t>
            </a:r>
          </a:p>
        </p:txBody>
      </p:sp>
      <p:sp>
        <p:nvSpPr>
          <p:cNvPr id="21" name="Oval 20"/>
          <p:cNvSpPr/>
          <p:nvPr/>
        </p:nvSpPr>
        <p:spPr>
          <a:xfrm>
            <a:off x="896112" y="4498848"/>
            <a:ext cx="274320" cy="27432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81144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35424"/>
            <a:ext cx="1280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1">
                <a:solidFill>
                  <a:srgbClr val="AC0F1F"/>
                </a:solidFill>
                <a:latin typeface="Arial"/>
              </a:defRPr>
            </a:pPr>
            <a:r>
              <a:t>RESOURCE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17136"/>
            <a:ext cx="2606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Balance compute, storage and power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993392"/>
            <a:ext cx="5230368" cy="340156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2221992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27" name="Oval 26"/>
          <p:cNvSpPr/>
          <p:nvPr/>
        </p:nvSpPr>
        <p:spPr>
          <a:xfrm>
            <a:off x="6547104" y="2633472"/>
            <a:ext cx="274320" cy="27432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2715768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70048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EDGE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2651760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More local intelligence</a:t>
            </a:r>
          </a:p>
        </p:txBody>
      </p:sp>
      <p:sp>
        <p:nvSpPr>
          <p:cNvPr id="31" name="Oval 30"/>
          <p:cNvSpPr/>
          <p:nvPr/>
        </p:nvSpPr>
        <p:spPr>
          <a:xfrm>
            <a:off x="6547104" y="3255264"/>
            <a:ext cx="274320" cy="27432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3337560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291840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5G / NEXT-GEN NETWORKS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3273552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Faster distributed communication</a:t>
            </a:r>
          </a:p>
        </p:txBody>
      </p:sp>
      <p:sp>
        <p:nvSpPr>
          <p:cNvPr id="35" name="Oval 34"/>
          <p:cNvSpPr/>
          <p:nvPr/>
        </p:nvSpPr>
        <p:spPr>
          <a:xfrm>
            <a:off x="6547104" y="3877056"/>
            <a:ext cx="274320" cy="27432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3959352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913632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AUTOMATED ORCHESTRATION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3895344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Smarter workload placement</a:t>
            </a:r>
          </a:p>
        </p:txBody>
      </p:sp>
      <p:sp>
        <p:nvSpPr>
          <p:cNvPr id="39" name="Oval 38"/>
          <p:cNvSpPr/>
          <p:nvPr/>
        </p:nvSpPr>
        <p:spPr>
          <a:xfrm>
            <a:off x="6547104" y="4498848"/>
            <a:ext cx="274320" cy="27432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4581144"/>
            <a:ext cx="274320" cy="60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535424"/>
            <a:ext cx="18288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HYBRID COMPUTING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2832" y="4517136"/>
            <a:ext cx="2240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00" b="0">
                <a:solidFill>
                  <a:srgbClr val="D6D6DB"/>
                </a:solidFill>
                <a:latin typeface="Arial"/>
              </a:defRPr>
            </a:pPr>
            <a:r>
              <a:t>Seamless edge–fog–cloud cooperation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34440" y="5669280"/>
            <a:ext cx="9738360" cy="402336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5779008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19" b="1">
                <a:solidFill>
                  <a:srgbClr val="E8142B"/>
                </a:solidFill>
                <a:latin typeface="Arial"/>
              </a:defRPr>
            </a:pPr>
            <a:r>
              <a:t>FUTURE DIRECTION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5769864"/>
            <a:ext cx="7635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F8F8F8"/>
                </a:solidFill>
                <a:latin typeface="Arial"/>
              </a:defRPr>
            </a:pPr>
            <a:r>
              <a:t>Edge intelligence + automated orchestration + stronger edge–cloud cooperation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09 • CASE STUDY /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SMART TRAFFIC MONITORING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71600"/>
            <a:ext cx="7909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320" b="0">
                <a:solidFill>
                  <a:srgbClr val="D6D6DB"/>
                </a:solidFill>
                <a:latin typeface="Arial"/>
              </a:defRPr>
            </a:pPr>
            <a:r>
              <a:t>Illustrative example: cameras and road sensors process selected traffic information near the road instead of sending every raw stream to a distant cloud.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1284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13969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12263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40" b="0">
                <a:solidFill>
                  <a:srgbClr val="D6D6DB"/>
                </a:solidFill>
                <a:latin typeface="Arial"/>
              </a:defRPr>
            </a:pPr>
            <a:r>
              <a:t>Camera / road sensor captures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2468879"/>
            <a:ext cx="0" cy="274321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5292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7977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752344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40" b="0">
                <a:solidFill>
                  <a:srgbClr val="D6D6DB"/>
                </a:solidFill>
                <a:latin typeface="Arial"/>
              </a:defRPr>
            </a:pPr>
            <a:r>
              <a:t>Nearby node filters and analyzes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3108960"/>
            <a:ext cx="0" cy="274320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9808" y="3383279"/>
            <a:ext cx="365760" cy="36576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49300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41985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FOG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92423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40" b="0">
                <a:solidFill>
                  <a:srgbClr val="D6D6DB"/>
                </a:solidFill>
                <a:latin typeface="Arial"/>
              </a:defRPr>
            </a:pPr>
            <a:r>
              <a:t>Regional node combines locations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3749039"/>
            <a:ext cx="0" cy="274320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49808" y="4023359"/>
            <a:ext cx="365760" cy="365760"/>
          </a:xfrm>
          <a:prstGeom prst="ellipse">
            <a:avLst/>
          </a:prstGeom>
          <a:solidFill>
            <a:srgbClr val="AC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33087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059935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032503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40" b="0">
                <a:solidFill>
                  <a:srgbClr val="D6D6DB"/>
                </a:solidFill>
                <a:latin typeface="Arial"/>
              </a:defRPr>
            </a:pPr>
            <a:r>
              <a:t>Central system stores and analyzes trends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" y="4389120"/>
            <a:ext cx="0" cy="274320"/>
          </a:xfrm>
          <a:prstGeom prst="line">
            <a:avLst/>
          </a:prstGeom>
          <a:ln w="1270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49808" y="4663440"/>
            <a:ext cx="365760" cy="365760"/>
          </a:xfrm>
          <a:prstGeom prst="ellipse">
            <a:avLst/>
          </a:prstGeom>
          <a:solidFill>
            <a:srgbClr val="E8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773168"/>
            <a:ext cx="365760" cy="804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F8F8F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700016"/>
            <a:ext cx="10972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50" b="1">
                <a:solidFill>
                  <a:srgbClr val="E8142B"/>
                </a:solidFill>
                <a:latin typeface="Arial"/>
              </a:defRPr>
            </a:pPr>
            <a: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672583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40" b="0">
                <a:solidFill>
                  <a:srgbClr val="D6D6DB"/>
                </a:solidFill>
                <a:latin typeface="Arial"/>
              </a:defRPr>
            </a:pPr>
            <a:r>
              <a:t>Traffic control receives useful insights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1737360"/>
            <a:ext cx="2514600" cy="3794760"/>
          </a:xfrm>
          <a:prstGeom prst="roundRect">
            <a:avLst/>
          </a:prstGeom>
          <a:solidFill>
            <a:srgbClr val="12121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1993392"/>
            <a:ext cx="21031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000" b="1">
                <a:solidFill>
                  <a:srgbClr val="E8142B"/>
                </a:solidFill>
                <a:latin typeface="Arial"/>
              </a:defRPr>
            </a:pPr>
            <a:r>
              <a:t>SMART TRAFFIC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2514600"/>
            <a:ext cx="1691640" cy="43891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660904"/>
            <a:ext cx="1691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AC0F1F"/>
                </a:solidFill>
                <a:latin typeface="Arial"/>
              </a:defRPr>
            </a:pPr>
            <a:r>
              <a:t>CAMERAS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85248" y="2953512"/>
            <a:ext cx="0" cy="228600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144000" y="3182112"/>
            <a:ext cx="1691640" cy="43891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328416"/>
            <a:ext cx="1691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E8142B"/>
                </a:solidFill>
                <a:latin typeface="Arial"/>
              </a:defRPr>
            </a:pPr>
            <a:r>
              <a:t>EDGE NODE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85248" y="3621024"/>
            <a:ext cx="0" cy="228600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44000" y="3849624"/>
            <a:ext cx="1691640" cy="43891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3995928"/>
            <a:ext cx="1691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AC0F1F"/>
                </a:solidFill>
                <a:latin typeface="Arial"/>
              </a:defRPr>
            </a:pPr>
            <a:r>
              <a:t>FOG NODE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85248" y="4288536"/>
            <a:ext cx="0" cy="228600"/>
          </a:xfrm>
          <a:prstGeom prst="line">
            <a:avLst/>
          </a:prstGeom>
          <a:ln w="1524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144000" y="4517136"/>
            <a:ext cx="1691640" cy="43891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4663440"/>
            <a:ext cx="1691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50" b="1">
                <a:solidFill>
                  <a:srgbClr val="E8142B"/>
                </a:solidFill>
                <a:latin typeface="Arial"/>
              </a:defRPr>
            </a:pPr>
            <a:r>
              <a:t>CLOUD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5074920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00" b="1">
                <a:solidFill>
                  <a:srgbClr val="F8F8F8"/>
                </a:solidFill>
                <a:latin typeface="Arial"/>
              </a:defRPr>
            </a:pPr>
            <a:r>
              <a:t>LESS RAW DATA TRANSFER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6858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10 • 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3000" b="1">
                <a:solidFill>
                  <a:srgbClr val="F8F8F8"/>
                </a:solidFill>
                <a:latin typeface="Arial"/>
              </a:defRPr>
            </a:pPr>
            <a:r>
              <a:t>KEY TAKEAWAYS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307592"/>
            <a:ext cx="1083564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417320"/>
            <a:ext cx="10058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350" b="0">
                <a:solidFill>
                  <a:srgbClr val="D6D6DB"/>
                </a:solidFill>
                <a:latin typeface="Arial"/>
              </a:defRPr>
            </a:pPr>
            <a:r>
              <a:t>Edge and fog computing bring processing closer to data sources, supporting faster and more distributed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248716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87168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LOW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83464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0">
                <a:solidFill>
                  <a:srgbClr val="D6D6DB"/>
                </a:solidFill>
                <a:latin typeface="Arial"/>
              </a:defRPr>
            </a:pPr>
            <a:r>
              <a:t>Process closer to reduce response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938528"/>
            <a:ext cx="248716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2140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487168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DISTRIBUTED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3464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0">
                <a:solidFill>
                  <a:srgbClr val="D6D6DB"/>
                </a:solidFill>
                <a:latin typeface="Arial"/>
              </a:defRPr>
            </a:pPr>
            <a:r>
              <a:t>Share workloads across edge, fog and cloud.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938528"/>
            <a:ext cx="2487168" cy="1389888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121408"/>
            <a:ext cx="274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91919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487168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REAL-TIME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83464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30" b="0">
                <a:solidFill>
                  <a:srgbClr val="D6D6DB"/>
                </a:solidFill>
                <a:latin typeface="Arial"/>
              </a:defRPr>
            </a:pPr>
            <a:r>
              <a:t>Support applications that need quick decisions.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03320"/>
            <a:ext cx="7543800" cy="1554480"/>
          </a:xfrm>
          <a:prstGeom prst="roundRect">
            <a:avLst/>
          </a:prstGeom>
          <a:solidFill>
            <a:srgbClr val="202025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931920"/>
            <a:ext cx="1234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00" b="1">
                <a:solidFill>
                  <a:srgbClr val="E8142B"/>
                </a:solidFill>
                <a:latin typeface="Arial"/>
              </a:defRPr>
            </a:pPr>
            <a:r>
              <a:t>FINAL MESSAGE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297680"/>
            <a:ext cx="6903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1">
                <a:solidFill>
                  <a:srgbClr val="F8F8F8"/>
                </a:solidFill>
                <a:latin typeface="Arial"/>
              </a:defRPr>
            </a:pPr>
            <a:r>
              <a:t>Edge and fog computing complement cloud computing by placing the right processing work at the right location.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938528"/>
            <a:ext cx="3017520" cy="33192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5088" y="2176272"/>
            <a:ext cx="2514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E8142B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651760"/>
            <a:ext cx="2743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4261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0">
                <a:solidFill>
                  <a:srgbClr val="D6D6DB"/>
                </a:solidFill>
                <a:latin typeface="Arial"/>
              </a:defRPr>
            </a:pPr>
            <a:r>
              <a:t>NIST edge/fog computing 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3127248"/>
            <a:ext cx="2743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118104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0">
                <a:solidFill>
                  <a:srgbClr val="D6D6DB"/>
                </a:solidFill>
                <a:latin typeface="Arial"/>
              </a:defRPr>
            </a:pPr>
            <a:r>
              <a:t>IEEE edge computing literature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3602736"/>
            <a:ext cx="2743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5935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0">
                <a:solidFill>
                  <a:srgbClr val="D6D6DB"/>
                </a:solidFill>
                <a:latin typeface="Arial"/>
              </a:defRPr>
            </a:pPr>
            <a:r>
              <a:t>Cloud–edge architecture references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4078224"/>
            <a:ext cx="2743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0690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0">
                <a:solidFill>
                  <a:srgbClr val="D6D6DB"/>
                </a:solidFill>
                <a:latin typeface="Arial"/>
              </a:defRPr>
            </a:pPr>
            <a:r>
              <a:t>5G and distributed computing resources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4553712"/>
            <a:ext cx="2743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4544568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919" b="0">
                <a:solidFill>
                  <a:srgbClr val="D6D6DB"/>
                </a:solidFill>
                <a:latin typeface="Arial"/>
              </a:defRPr>
            </a:pPr>
            <a:r>
              <a:t>IoT computing references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623560"/>
            <a:ext cx="7498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850" b="1">
                <a:solidFill>
                  <a:srgbClr val="E8142B"/>
                </a:solidFill>
                <a:latin typeface="Arial"/>
              </a:defRPr>
            </a:pPr>
            <a:r>
              <a:t>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596128"/>
            <a:ext cx="8046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1050" b="1">
                <a:solidFill>
                  <a:srgbClr val="F8F8F8"/>
                </a:solidFill>
                <a:latin typeface="Arial"/>
              </a:defRPr>
            </a:pPr>
            <a:r>
              <a:t>Compute closer to the source when speed, bandwidth or resilience matters.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" y="6327648"/>
            <a:ext cx="3154680" cy="0"/>
          </a:xfrm>
          <a:prstGeom prst="line">
            <a:avLst/>
          </a:prstGeom>
          <a:ln w="12700">
            <a:solidFill>
              <a:srgbClr val="3939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" y="6419088"/>
            <a:ext cx="5486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defRPr sz="750" b="1">
                <a:solidFill>
                  <a:srgbClr val="919198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409944"/>
            <a:ext cx="4114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defRPr sz="800" b="1">
                <a:solidFill>
                  <a:srgbClr val="919198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4000" b="1">
                <a:solidFill>
                  <a:srgbClr val="F8F8F8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1">
                <a:solidFill>
                  <a:srgbClr val="E8142B"/>
                </a:solidFill>
                <a:latin typeface="Arial"/>
              </a:defRPr>
            </a:pPr>
            <a:r>
              <a:t>QUESTIONS &amp; DISCUSSION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892040" y="3456432"/>
            <a:ext cx="2377440" cy="0"/>
          </a:xfrm>
          <a:prstGeom prst="line">
            <a:avLst/>
          </a:prstGeom>
          <a:ln w="31750">
            <a:solidFill>
              <a:srgbClr val="E8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379476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1100" b="1">
                <a:solidFill>
                  <a:srgbClr val="D6D6DB"/>
                </a:solidFill>
                <a:latin typeface="Arial"/>
              </a:defRPr>
            </a:pPr>
            <a:r>
              <a:t>EDGE COMPUTING AND FOG COMPUTING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4389120"/>
            <a:ext cx="1325880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4480559"/>
            <a:ext cx="13258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LOW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4389120"/>
            <a:ext cx="1371600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4480559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DISTRIBUTED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389120"/>
            <a:ext cx="1207008" cy="347472"/>
          </a:xfrm>
          <a:prstGeom prst="roundRect">
            <a:avLst/>
          </a:prstGeom>
          <a:solidFill>
            <a:srgbClr val="19191D"/>
          </a:solidFill>
          <a:ln>
            <a:solidFill>
              <a:srgbClr val="393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4480559"/>
            <a:ext cx="12070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819" b="1">
                <a:solidFill>
                  <a:srgbClr val="D6D6DB"/>
                </a:solidFill>
                <a:latin typeface="Arial"/>
              </a:defRPr>
            </a:pPr>
            <a:r>
              <a:t>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881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defRPr sz="900" b="0">
                <a:solidFill>
                  <a:srgbClr val="919198"/>
                </a:solidFill>
                <a:latin typeface="Arial"/>
              </a:defRPr>
            </a:pPr>
            <a:r>
              <a:t>V. Devachary  |  Reg. No: 192465041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